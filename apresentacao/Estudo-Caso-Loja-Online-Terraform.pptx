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arles-freire-heyupcharly/estudo-caso-loja-online-iac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Estudo de Caso:</a:t>
            </a:r>
          </a:p>
          <a:p>
            <a:r>
              <a:t>Loja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Infrastructure as Code com Terraform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Prof. Tharles Maicon Freire dos Santos</a:t>
            </a:r>
          </a:p>
          <a:p>
            <a:r>
              <a:t>MBA Cybersecurity - Cloud Computing, DevOps e DevSecOps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O </a:t>
            </a:r>
            <a:r>
              <a:rPr dirty="0" err="1"/>
              <a:t>Problema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rPr dirty="0"/>
              <a:t>🏪 Loja Online com </a:t>
            </a:r>
            <a:r>
              <a:rPr dirty="0" err="1"/>
              <a:t>Tráfego</a:t>
            </a:r>
            <a:r>
              <a:rPr dirty="0"/>
              <a:t> </a:t>
            </a:r>
            <a:r>
              <a:rPr dirty="0" err="1"/>
              <a:t>Variável</a:t>
            </a: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📊 </a:t>
            </a:r>
            <a:r>
              <a:rPr dirty="0" err="1"/>
              <a:t>Padrão</a:t>
            </a:r>
            <a:r>
              <a:rPr dirty="0"/>
              <a:t> </a:t>
            </a:r>
            <a:r>
              <a:rPr dirty="0" err="1"/>
              <a:t>Observado</a:t>
            </a:r>
            <a:r>
              <a:rPr dirty="0"/>
              <a:t>: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Segunda a Quinta: </a:t>
            </a:r>
            <a:r>
              <a:rPr dirty="0" err="1"/>
              <a:t>Tráfego</a:t>
            </a:r>
            <a:r>
              <a:rPr dirty="0"/>
              <a:t> normal (~1.000 </a:t>
            </a:r>
            <a:r>
              <a:rPr dirty="0" err="1"/>
              <a:t>usuários</a:t>
            </a:r>
            <a:r>
              <a:rPr dirty="0"/>
              <a:t>/hora)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Sexta-</a:t>
            </a:r>
            <a:r>
              <a:rPr dirty="0" err="1"/>
              <a:t>feira</a:t>
            </a:r>
            <a:r>
              <a:rPr dirty="0"/>
              <a:t> 18h-22h: PICO (10.000+ </a:t>
            </a:r>
            <a:r>
              <a:rPr dirty="0" err="1"/>
              <a:t>usuários</a:t>
            </a:r>
            <a:r>
              <a:rPr dirty="0"/>
              <a:t>/hora) 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Fim de </a:t>
            </a:r>
            <a:r>
              <a:rPr dirty="0" err="1"/>
              <a:t>semana</a:t>
            </a:r>
            <a:r>
              <a:rPr dirty="0"/>
              <a:t>: </a:t>
            </a:r>
            <a:r>
              <a:rPr dirty="0" err="1"/>
              <a:t>Baixíssimo</a:t>
            </a:r>
            <a:r>
              <a:rPr dirty="0"/>
              <a:t> </a:t>
            </a:r>
            <a:r>
              <a:rPr dirty="0" err="1"/>
              <a:t>tráfego</a:t>
            </a:r>
            <a:r>
              <a:rPr dirty="0"/>
              <a:t> (~200 </a:t>
            </a:r>
            <a:r>
              <a:rPr dirty="0" err="1"/>
              <a:t>usuários</a:t>
            </a:r>
            <a:r>
              <a:rPr dirty="0"/>
              <a:t>/hora)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⚠️ </a:t>
            </a:r>
            <a:r>
              <a:rPr dirty="0" err="1"/>
              <a:t>Problemas</a:t>
            </a:r>
            <a:r>
              <a:rPr dirty="0"/>
              <a:t>: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Auto Scaling SEM LIMITES → Custos </a:t>
            </a:r>
            <a:r>
              <a:rPr dirty="0" err="1"/>
              <a:t>descontrolados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• </a:t>
            </a:r>
            <a:r>
              <a:rPr dirty="0" err="1"/>
              <a:t>Servidores</a:t>
            </a:r>
            <a:r>
              <a:rPr dirty="0"/>
              <a:t> </a:t>
            </a:r>
            <a:r>
              <a:rPr dirty="0" err="1"/>
              <a:t>ociosos</a:t>
            </a:r>
            <a:r>
              <a:rPr dirty="0"/>
              <a:t> no </a:t>
            </a:r>
            <a:r>
              <a:rPr dirty="0" err="1"/>
              <a:t>fim</a:t>
            </a:r>
            <a:r>
              <a:rPr dirty="0"/>
              <a:t> de </a:t>
            </a:r>
            <a:r>
              <a:rPr dirty="0" err="1"/>
              <a:t>semana</a:t>
            </a:r>
            <a:r>
              <a:rPr dirty="0"/>
              <a:t> → </a:t>
            </a:r>
            <a:r>
              <a:rPr dirty="0" err="1"/>
              <a:t>Desperdício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• </a:t>
            </a:r>
            <a:r>
              <a:rPr dirty="0" err="1"/>
              <a:t>Infraestrutura</a:t>
            </a:r>
            <a:r>
              <a:rPr dirty="0"/>
              <a:t> manual → Lento para </a:t>
            </a:r>
            <a:r>
              <a:rPr dirty="0" err="1"/>
              <a:t>ajustar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• Sem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versão</a:t>
            </a:r>
            <a:r>
              <a:rPr dirty="0"/>
              <a:t> → Risco </a:t>
            </a:r>
            <a:r>
              <a:rPr dirty="0" err="1"/>
              <a:t>operacional</a:t>
            </a: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Sexta-</a:t>
            </a:r>
            <a:r>
              <a:rPr dirty="0" err="1"/>
              <a:t>feira</a:t>
            </a:r>
            <a:r>
              <a:rPr dirty="0"/>
              <a:t> 20h 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📈 PICO DE TRÁFEGO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Sistema antes do Terraform:</a:t>
            </a:r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2 </a:t>
            </a:r>
            <a:r>
              <a:rPr dirty="0" err="1"/>
              <a:t>servidores</a:t>
            </a:r>
            <a:r>
              <a:rPr dirty="0"/>
              <a:t> → Sistema LENTO</a:t>
            </a:r>
          </a:p>
          <a:p>
            <a:pPr>
              <a:defRPr sz="1800">
                <a:latin typeface="Consolas"/>
              </a:defRPr>
            </a:pPr>
            <a:r>
              <a:rPr dirty="0"/>
              <a:t>Auto Scaling </a:t>
            </a:r>
            <a:r>
              <a:rPr dirty="0" err="1"/>
              <a:t>dispara</a:t>
            </a:r>
            <a:r>
              <a:rPr dirty="0"/>
              <a:t>...</a:t>
            </a:r>
          </a:p>
          <a:p>
            <a:pPr>
              <a:defRPr sz="1800">
                <a:latin typeface="Consolas"/>
              </a:defRPr>
            </a:pPr>
            <a:r>
              <a:rPr dirty="0"/>
              <a:t>→ 5 </a:t>
            </a:r>
            <a:r>
              <a:rPr dirty="0" err="1"/>
              <a:t>servidores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→ 10 </a:t>
            </a:r>
            <a:r>
              <a:rPr dirty="0" err="1"/>
              <a:t>servidores</a:t>
            </a:r>
            <a:r>
              <a:rPr dirty="0"/>
              <a:t>  </a:t>
            </a:r>
          </a:p>
          <a:p>
            <a:pPr>
              <a:defRPr sz="1800">
                <a:latin typeface="Consolas"/>
              </a:defRPr>
            </a:pPr>
            <a:r>
              <a:rPr dirty="0"/>
              <a:t>→ 20 </a:t>
            </a:r>
            <a:r>
              <a:rPr dirty="0" err="1"/>
              <a:t>servidores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→ 35 </a:t>
            </a:r>
            <a:r>
              <a:rPr dirty="0" err="1"/>
              <a:t>servidores</a:t>
            </a:r>
            <a:r>
              <a:rPr dirty="0"/>
              <a:t> 😱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❌ </a:t>
            </a:r>
            <a:r>
              <a:rPr dirty="0" err="1"/>
              <a:t>Problema</a:t>
            </a:r>
            <a:r>
              <a:rPr dirty="0"/>
              <a:t>: Sem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</a:t>
            </a:r>
            <a:r>
              <a:rPr dirty="0" err="1"/>
              <a:t>definido</a:t>
            </a:r>
            <a:r>
              <a:rPr dirty="0"/>
              <a:t>!</a:t>
            </a:r>
          </a:p>
          <a:p>
            <a:pPr>
              <a:defRPr sz="1800"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Segunda-</a:t>
            </a:r>
            <a:r>
              <a:rPr dirty="0" err="1"/>
              <a:t>feira</a:t>
            </a:r>
            <a:r>
              <a:rPr dirty="0"/>
              <a:t> 8h 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CEO </a:t>
            </a:r>
            <a:r>
              <a:rPr dirty="0" err="1"/>
              <a:t>abre</a:t>
            </a:r>
            <a:r>
              <a:rPr dirty="0"/>
              <a:t> o email da AWS...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r>
              <a:rPr dirty="0" err="1"/>
              <a:t>Fatura</a:t>
            </a:r>
            <a:r>
              <a:rPr dirty="0"/>
              <a:t> AWS - </a:t>
            </a:r>
            <a:r>
              <a:rPr dirty="0" err="1"/>
              <a:t>Outubro</a:t>
            </a:r>
            <a:r>
              <a:rPr dirty="0"/>
              <a:t> 2024</a:t>
            </a:r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35 </a:t>
            </a:r>
            <a:r>
              <a:rPr dirty="0" err="1"/>
              <a:t>instâncias</a:t>
            </a:r>
            <a:r>
              <a:rPr dirty="0"/>
              <a:t> × 72 horas × $0.096/hora = $242</a:t>
            </a:r>
          </a:p>
          <a:p>
            <a:pPr>
              <a:defRPr sz="1800">
                <a:latin typeface="Consolas"/>
              </a:defRPr>
            </a:pPr>
            <a:r>
              <a:rPr dirty="0"/>
              <a:t>(Fim de </a:t>
            </a:r>
            <a:r>
              <a:rPr dirty="0" err="1"/>
              <a:t>semana</a:t>
            </a:r>
            <a:r>
              <a:rPr dirty="0"/>
              <a:t> </a:t>
            </a:r>
            <a:r>
              <a:rPr dirty="0" err="1"/>
              <a:t>inteiro</a:t>
            </a:r>
            <a:r>
              <a:rPr dirty="0"/>
              <a:t> com </a:t>
            </a:r>
            <a:r>
              <a:rPr dirty="0" err="1"/>
              <a:t>servidores</a:t>
            </a:r>
            <a:r>
              <a:rPr dirty="0"/>
              <a:t> </a:t>
            </a:r>
            <a:r>
              <a:rPr dirty="0" err="1"/>
              <a:t>ociosos</a:t>
            </a:r>
            <a:r>
              <a:rPr dirty="0"/>
              <a:t>!)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10 </a:t>
            </a:r>
            <a:r>
              <a:rPr dirty="0" err="1"/>
              <a:t>instâncias</a:t>
            </a:r>
            <a:r>
              <a:rPr dirty="0"/>
              <a:t> </a:t>
            </a:r>
            <a:r>
              <a:rPr dirty="0" err="1"/>
              <a:t>rodando</a:t>
            </a:r>
            <a:r>
              <a:rPr dirty="0"/>
              <a:t> 24/7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precisava</a:t>
            </a:r>
            <a:r>
              <a:rPr dirty="0"/>
              <a:t> 2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Total mensal: ~$50.000 💰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❌ INSUSTENTÁVEL!</a:t>
            </a:r>
          </a:p>
          <a:p>
            <a:pPr>
              <a:defRPr sz="3200" b="1">
                <a:solidFill>
                  <a:srgbClr val="D32F2F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Arquitetura</a:t>
            </a:r>
            <a:r>
              <a:rPr dirty="0"/>
              <a:t> da </a:t>
            </a:r>
            <a:r>
              <a:rPr dirty="0" err="1"/>
              <a:t>Solução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-diagrama-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Estratégia</a:t>
            </a:r>
            <a:r>
              <a:rPr dirty="0"/>
              <a:t> de </a:t>
            </a:r>
            <a:r>
              <a:rPr dirty="0" err="1"/>
              <a:t>Escalabilidade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-diagrama-escalab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Estrutura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Terraform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terraform/localstack/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├── provider.tf      ← Configuração LocalStack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├── variables.tf     ← CONTROLE DE CUSTOS aqui! 💰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├── vpc.tf           ← Rede (VPC, Subnets, NAT)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├── ec2.tf           ← Compute (ALB, ASG, Policies)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├── data.tf          ← Data sources (AMI, etc)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└── outputs.tf       ← Informações úteis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📝 Cada arquivo tem UMA responsabilidade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✅ Código versionado no Git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✅ Reproduzível em qualquer ambiente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variables.tf</a:t>
            </a:r>
            <a:r>
              <a:rPr dirty="0"/>
              <a:t> - O Controle de Custos 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Auto Scaling - LIMITES DEFINIDOS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variable "</a:t>
            </a:r>
            <a:r>
              <a:rPr dirty="0" err="1"/>
              <a:t>min_size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default = 2        # </a:t>
            </a:r>
            <a:r>
              <a:rPr dirty="0" err="1"/>
              <a:t>Mínimo</a:t>
            </a:r>
            <a:r>
              <a:rPr dirty="0"/>
              <a:t> para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disponibilidade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variable "</a:t>
            </a:r>
            <a:r>
              <a:rPr dirty="0" err="1"/>
              <a:t>max_size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default = 10       # ⚠️ MÁXIMO = </a:t>
            </a:r>
            <a:r>
              <a:rPr dirty="0" err="1"/>
              <a:t>Proteção</a:t>
            </a:r>
            <a:r>
              <a:rPr dirty="0"/>
              <a:t> de custos!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variable "</a:t>
            </a:r>
            <a:r>
              <a:rPr dirty="0" err="1"/>
              <a:t>desired_capacity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default = 2        # </a:t>
            </a:r>
            <a:r>
              <a:rPr dirty="0" err="1"/>
              <a:t>Capacidade</a:t>
            </a:r>
            <a:r>
              <a:rPr dirty="0"/>
              <a:t> normal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Scheduled Scaling - </a:t>
            </a:r>
            <a:r>
              <a:rPr dirty="0" err="1"/>
              <a:t>Padrões</a:t>
            </a:r>
            <a:r>
              <a:rPr dirty="0"/>
              <a:t> </a:t>
            </a:r>
            <a:r>
              <a:rPr dirty="0" err="1"/>
              <a:t>Previsíveis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variable "</a:t>
            </a:r>
            <a:r>
              <a:rPr dirty="0" err="1"/>
              <a:t>friday_desired_capacity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default = 6        # Sexta-</a:t>
            </a:r>
            <a:r>
              <a:rPr dirty="0" err="1"/>
              <a:t>feira</a:t>
            </a:r>
            <a:r>
              <a:rPr dirty="0"/>
              <a:t>: </a:t>
            </a:r>
            <a:r>
              <a:rPr dirty="0" err="1"/>
              <a:t>aumenta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variable "</a:t>
            </a:r>
            <a:r>
              <a:rPr dirty="0" err="1"/>
              <a:t>weekend_desired_capacity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default = 2        # Fim de </a:t>
            </a:r>
            <a:r>
              <a:rPr dirty="0" err="1"/>
              <a:t>semana</a:t>
            </a:r>
            <a:r>
              <a:rPr dirty="0"/>
              <a:t>: </a:t>
            </a:r>
            <a:r>
              <a:rPr dirty="0" err="1"/>
              <a:t>reduz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vpc.tf</a:t>
            </a:r>
            <a:r>
              <a:rPr dirty="0"/>
              <a:t> - A Base da Rede 🏗️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VPC = Virtual Private Cloud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"</a:t>
            </a:r>
            <a:r>
              <a:rPr dirty="0" err="1"/>
              <a:t>Nosso</a:t>
            </a:r>
            <a:r>
              <a:rPr dirty="0"/>
              <a:t> datacenter virtual </a:t>
            </a:r>
            <a:r>
              <a:rPr dirty="0" err="1"/>
              <a:t>na</a:t>
            </a:r>
            <a:r>
              <a:rPr dirty="0"/>
              <a:t> AWS"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aws_vpc</a:t>
            </a:r>
            <a:r>
              <a:rPr dirty="0"/>
              <a:t>" "main"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cidr_block</a:t>
            </a:r>
            <a:r>
              <a:rPr dirty="0"/>
              <a:t>           = "10.0.0.0/16"     # 65.536 IPs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enable_dns_hostnames</a:t>
            </a:r>
            <a:r>
              <a:rPr dirty="0"/>
              <a:t> = true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enable_dns_support</a:t>
            </a:r>
            <a:r>
              <a:rPr dirty="0"/>
              <a:t>   = true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tags =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Name = "</a:t>
            </a:r>
            <a:r>
              <a:rPr dirty="0" err="1"/>
              <a:t>loja</a:t>
            </a:r>
            <a:r>
              <a:rPr dirty="0"/>
              <a:t>-online-prod-</a:t>
            </a:r>
            <a:r>
              <a:rPr dirty="0" err="1"/>
              <a:t>vpc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Internet Gateway = "Porta de entrada"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aws_internet_gateway</a:t>
            </a:r>
            <a:r>
              <a:rPr dirty="0"/>
              <a:t>" "main"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vpc_id</a:t>
            </a:r>
            <a:r>
              <a:rPr dirty="0"/>
              <a:t> = </a:t>
            </a:r>
            <a:r>
              <a:rPr dirty="0" err="1"/>
              <a:t>aws_vpc.main.id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tags =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Name = "</a:t>
            </a:r>
            <a:r>
              <a:rPr dirty="0" err="1"/>
              <a:t>loja</a:t>
            </a:r>
            <a:r>
              <a:rPr dirty="0"/>
              <a:t>-online-prod-</a:t>
            </a:r>
            <a:r>
              <a:rPr dirty="0" err="1"/>
              <a:t>igw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Subnets - As 3 </a:t>
            </a:r>
            <a:r>
              <a:rPr dirty="0" err="1"/>
              <a:t>Camadas</a:t>
            </a:r>
            <a:r>
              <a:rPr dirty="0"/>
              <a:t> 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🌐 Subnets PÚBLICAS (10.0.1-3.0/24)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Load Balancer, NAT Gateway   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Tem </a:t>
            </a:r>
            <a:r>
              <a:rPr dirty="0" err="1"/>
              <a:t>acesso</a:t>
            </a:r>
            <a:r>
              <a:rPr dirty="0"/>
              <a:t> à Internet        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     ↓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🔒 Subnets PRIVADAS (10.0.11-13.0/24)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</a:t>
            </a:r>
            <a:r>
              <a:rPr dirty="0" err="1"/>
              <a:t>Servidores</a:t>
            </a:r>
            <a:r>
              <a:rPr dirty="0"/>
              <a:t> da </a:t>
            </a:r>
            <a:r>
              <a:rPr dirty="0" err="1"/>
              <a:t>aplicação</a:t>
            </a:r>
            <a:r>
              <a:rPr dirty="0"/>
              <a:t> (EC2)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</a:t>
            </a:r>
            <a:r>
              <a:rPr dirty="0" err="1"/>
              <a:t>Acesso</a:t>
            </a:r>
            <a:r>
              <a:rPr dirty="0"/>
              <a:t> via NAT Gateway       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     ↓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🔐 Subnets DATABASE (10.0.21-23.0/24)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Banco de dados (RDS)         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SEM </a:t>
            </a:r>
            <a:r>
              <a:rPr dirty="0" err="1"/>
              <a:t>acesso</a:t>
            </a:r>
            <a:r>
              <a:rPr dirty="0"/>
              <a:t> à Internet        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│    → Máxima </a:t>
            </a:r>
            <a:r>
              <a:rPr dirty="0" err="1"/>
              <a:t>segurança</a:t>
            </a:r>
            <a:r>
              <a:rPr dirty="0"/>
              <a:t>                      │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✅ 3 Availability Zones = Alta </a:t>
            </a:r>
            <a:r>
              <a:rPr dirty="0" err="1"/>
              <a:t>Disponibilidade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Application Load Balancer - O </a:t>
            </a:r>
            <a:r>
              <a:rPr dirty="0" err="1"/>
              <a:t>Porteiro</a:t>
            </a:r>
            <a:r>
              <a:rPr dirty="0"/>
              <a:t> 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865942" cy="5693866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ALB = </a:t>
            </a:r>
            <a:r>
              <a:rPr dirty="0" err="1"/>
              <a:t>Distribui</a:t>
            </a:r>
            <a:r>
              <a:rPr dirty="0"/>
              <a:t> </a:t>
            </a:r>
            <a:r>
              <a:rPr dirty="0" err="1"/>
              <a:t>tráfego</a:t>
            </a:r>
            <a:r>
              <a:rPr dirty="0"/>
              <a:t> entre </a:t>
            </a:r>
            <a:r>
              <a:rPr dirty="0" err="1"/>
              <a:t>servidores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aws_lb</a:t>
            </a:r>
            <a:r>
              <a:rPr dirty="0"/>
              <a:t>" "main"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name               = "</a:t>
            </a:r>
            <a:r>
              <a:rPr dirty="0" err="1"/>
              <a:t>loja</a:t>
            </a:r>
            <a:r>
              <a:rPr dirty="0"/>
              <a:t>-online-prod-</a:t>
            </a:r>
            <a:r>
              <a:rPr dirty="0" err="1"/>
              <a:t>alb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internal           = false           # Público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load_balancer_type</a:t>
            </a:r>
            <a:r>
              <a:rPr dirty="0"/>
              <a:t> = "application"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subnets = [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aws_subnet.public_1a.id,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aws_subnet.public_1b.id,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aws_subnet.public_1c.id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]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Target Group = "Para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enviar</a:t>
            </a:r>
            <a:r>
              <a:rPr dirty="0"/>
              <a:t> as </a:t>
            </a:r>
            <a:r>
              <a:rPr dirty="0" err="1"/>
              <a:t>requisições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aws_lb_target_group</a:t>
            </a:r>
            <a:r>
              <a:rPr dirty="0"/>
              <a:t>" "backend"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name     = "</a:t>
            </a:r>
            <a:r>
              <a:rPr dirty="0" err="1"/>
              <a:t>loja</a:t>
            </a:r>
            <a:r>
              <a:rPr dirty="0"/>
              <a:t>-online-backend-</a:t>
            </a:r>
            <a:r>
              <a:rPr dirty="0" err="1"/>
              <a:t>tg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port     = 3000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protocol = "HTTP"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vpc_id</a:t>
            </a:r>
            <a:r>
              <a:rPr dirty="0"/>
              <a:t>   = </a:t>
            </a:r>
            <a:r>
              <a:rPr dirty="0" err="1"/>
              <a:t>aws_vpc.main.id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health_check</a:t>
            </a:r>
            <a:r>
              <a:rPr dirty="0"/>
              <a:t>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path = "/health"    # </a:t>
            </a:r>
            <a:r>
              <a:rPr dirty="0" err="1"/>
              <a:t>Verifica</a:t>
            </a:r>
            <a:r>
              <a:rPr dirty="0"/>
              <a:t> se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OK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Auto Scaling Group - A </a:t>
            </a:r>
            <a:r>
              <a:rPr dirty="0" err="1"/>
              <a:t>Mágica</a:t>
            </a:r>
            <a:r>
              <a:rPr dirty="0"/>
              <a:t> 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434552" cy="590931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ASG = </a:t>
            </a:r>
            <a:r>
              <a:rPr dirty="0" err="1"/>
              <a:t>Ajusta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servidores</a:t>
            </a:r>
            <a:r>
              <a:rPr dirty="0"/>
              <a:t> </a:t>
            </a:r>
            <a:r>
              <a:rPr dirty="0" err="1"/>
              <a:t>automaticamente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aws_autoscaling_group</a:t>
            </a:r>
            <a:r>
              <a:rPr dirty="0"/>
              <a:t>" "backend"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name                = "</a:t>
            </a:r>
            <a:r>
              <a:rPr dirty="0" err="1"/>
              <a:t>loja</a:t>
            </a:r>
            <a:r>
              <a:rPr dirty="0"/>
              <a:t>-online-backend-</a:t>
            </a:r>
            <a:r>
              <a:rPr dirty="0" err="1"/>
              <a:t>asg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vpc_zone_identifier</a:t>
            </a:r>
            <a:r>
              <a:rPr dirty="0"/>
              <a:t> = [/* subnets </a:t>
            </a:r>
            <a:r>
              <a:rPr dirty="0" err="1"/>
              <a:t>privadas</a:t>
            </a:r>
            <a:r>
              <a:rPr dirty="0"/>
              <a:t> */]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min_size</a:t>
            </a:r>
            <a:r>
              <a:rPr dirty="0"/>
              <a:t>         = </a:t>
            </a:r>
            <a:r>
              <a:rPr dirty="0" err="1"/>
              <a:t>var.min_size</a:t>
            </a:r>
            <a:r>
              <a:rPr dirty="0"/>
              <a:t>          # 2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max_size</a:t>
            </a:r>
            <a:r>
              <a:rPr dirty="0"/>
              <a:t>         = </a:t>
            </a:r>
            <a:r>
              <a:rPr dirty="0" err="1"/>
              <a:t>var.max_size</a:t>
            </a:r>
            <a:r>
              <a:rPr dirty="0"/>
              <a:t>          # 10 ⚠️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desired_capacity</a:t>
            </a:r>
            <a:r>
              <a:rPr dirty="0"/>
              <a:t> = </a:t>
            </a:r>
            <a:r>
              <a:rPr dirty="0" err="1"/>
              <a:t>var.desired_capacity</a:t>
            </a:r>
            <a:r>
              <a:rPr dirty="0"/>
              <a:t>  # 2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health_check_type</a:t>
            </a:r>
            <a:r>
              <a:rPr dirty="0"/>
              <a:t>         = "ELB"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health_check_grace_period</a:t>
            </a:r>
            <a:r>
              <a:rPr dirty="0"/>
              <a:t> = 300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target_group_arns</a:t>
            </a:r>
            <a:r>
              <a:rPr dirty="0"/>
              <a:t> = [</a:t>
            </a:r>
            <a:r>
              <a:rPr dirty="0" err="1"/>
              <a:t>aws_lb_target_group.backend.arn</a:t>
            </a:r>
            <a:r>
              <a:rPr dirty="0"/>
              <a:t>]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launch_template</a:t>
            </a:r>
            <a:r>
              <a:rPr dirty="0"/>
              <a:t>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id      = </a:t>
            </a:r>
            <a:r>
              <a:rPr dirty="0" err="1"/>
              <a:t>aws_launch_template.backend.id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version = "$Latest"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🎯 Target Tracking = Escala </a:t>
            </a:r>
            <a:r>
              <a:rPr dirty="0" err="1"/>
              <a:t>baseado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CPU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aws_autoscaling_policy</a:t>
            </a:r>
            <a:r>
              <a:rPr dirty="0"/>
              <a:t>" "</a:t>
            </a:r>
            <a:r>
              <a:rPr dirty="0" err="1"/>
              <a:t>cpu_tracking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policy_type</a:t>
            </a:r>
            <a:r>
              <a:rPr dirty="0"/>
              <a:t>            = "</a:t>
            </a:r>
            <a:r>
              <a:rPr dirty="0" err="1"/>
              <a:t>TargetTrackingScaling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target_value</a:t>
            </a:r>
            <a:r>
              <a:rPr dirty="0"/>
              <a:t>           = 70.0   # CPU &gt; 70% → </a:t>
            </a:r>
            <a:r>
              <a:rPr dirty="0" err="1"/>
              <a:t>Adiciona</a:t>
            </a:r>
            <a:r>
              <a:rPr dirty="0"/>
              <a:t> </a:t>
            </a:r>
            <a:r>
              <a:rPr dirty="0" err="1"/>
              <a:t>servidor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Scheduled Scaling - </a:t>
            </a:r>
            <a:r>
              <a:rPr dirty="0" err="1"/>
              <a:t>Horários</a:t>
            </a:r>
            <a:r>
              <a:rPr dirty="0"/>
              <a:t> </a:t>
            </a:r>
            <a:r>
              <a:rPr dirty="0" err="1"/>
              <a:t>Especiais</a:t>
            </a:r>
            <a:r>
              <a:rPr dirty="0"/>
              <a:t> 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Sexta-</a:t>
            </a:r>
            <a:r>
              <a:rPr dirty="0" err="1"/>
              <a:t>feira</a:t>
            </a:r>
            <a:r>
              <a:rPr dirty="0"/>
              <a:t> 18h - AUMENTA para o </a:t>
            </a:r>
            <a:r>
              <a:rPr dirty="0" err="1"/>
              <a:t>pico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aws_autoscaling_schedule</a:t>
            </a:r>
            <a:r>
              <a:rPr dirty="0"/>
              <a:t>" "</a:t>
            </a:r>
            <a:r>
              <a:rPr dirty="0" err="1"/>
              <a:t>friday_scale_up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scheduled_action_name</a:t>
            </a:r>
            <a:r>
              <a:rPr dirty="0"/>
              <a:t>  = "</a:t>
            </a:r>
            <a:r>
              <a:rPr dirty="0" err="1"/>
              <a:t>friday</a:t>
            </a:r>
            <a:r>
              <a:rPr dirty="0"/>
              <a:t>-evening-scale-up"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autoscaling_group_name</a:t>
            </a:r>
            <a:r>
              <a:rPr dirty="0"/>
              <a:t> = </a:t>
            </a:r>
            <a:r>
              <a:rPr dirty="0" err="1"/>
              <a:t>aws_autoscaling_group.backend.name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recurrence       = "0 18 * * 5"    # Cron: Sexta 18h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desired_capacity</a:t>
            </a:r>
            <a:r>
              <a:rPr dirty="0"/>
              <a:t> = 6                # 2 → 6 </a:t>
            </a:r>
            <a:r>
              <a:rPr dirty="0" err="1"/>
              <a:t>servidores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Sexta-</a:t>
            </a:r>
            <a:r>
              <a:rPr dirty="0" err="1"/>
              <a:t>feira</a:t>
            </a:r>
            <a:r>
              <a:rPr dirty="0"/>
              <a:t> 23h - REDUZ </a:t>
            </a:r>
            <a:r>
              <a:rPr dirty="0" err="1"/>
              <a:t>após</a:t>
            </a:r>
            <a:r>
              <a:rPr dirty="0"/>
              <a:t> o </a:t>
            </a:r>
            <a:r>
              <a:rPr dirty="0" err="1"/>
              <a:t>pico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aws_autoscaling_schedule</a:t>
            </a:r>
            <a:r>
              <a:rPr dirty="0"/>
              <a:t>" "</a:t>
            </a:r>
            <a:r>
              <a:rPr dirty="0" err="1"/>
              <a:t>friday_scale_down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scheduled_action_name</a:t>
            </a:r>
            <a:r>
              <a:rPr dirty="0"/>
              <a:t>  = "</a:t>
            </a:r>
            <a:r>
              <a:rPr dirty="0" err="1"/>
              <a:t>friday</a:t>
            </a:r>
            <a:r>
              <a:rPr dirty="0"/>
              <a:t>-night-scale-down"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autoscaling_group_name</a:t>
            </a:r>
            <a:r>
              <a:rPr dirty="0"/>
              <a:t> = </a:t>
            </a:r>
            <a:r>
              <a:rPr dirty="0" err="1"/>
              <a:t>aws_autoscaling_group.backend.name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recurrence       = "0 23 * * 5"    # Cron: Sexta 23h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desired_capacity</a:t>
            </a:r>
            <a:r>
              <a:rPr dirty="0"/>
              <a:t> = 2                # 6 → 2 </a:t>
            </a:r>
            <a:r>
              <a:rPr dirty="0" err="1"/>
              <a:t>servidores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━━━━━━━━━━━━━━━━━━━━━━━━━━━━━━━━━━━━━━━━━━━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Timeline: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Segunda-Quinta: 2 </a:t>
            </a:r>
            <a:r>
              <a:rPr dirty="0" err="1"/>
              <a:t>servidores</a:t>
            </a:r>
            <a:r>
              <a:rPr dirty="0"/>
              <a:t> (normal)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Sexta 18h:      6 </a:t>
            </a:r>
            <a:r>
              <a:rPr dirty="0" err="1"/>
              <a:t>servidores</a:t>
            </a:r>
            <a:r>
              <a:rPr dirty="0"/>
              <a:t> (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Sexta 23h:      2 </a:t>
            </a:r>
            <a:r>
              <a:rPr dirty="0" err="1"/>
              <a:t>servidores</a:t>
            </a:r>
            <a:r>
              <a:rPr dirty="0"/>
              <a:t> (volta </a:t>
            </a:r>
            <a:r>
              <a:rPr dirty="0" err="1"/>
              <a:t>ao</a:t>
            </a:r>
            <a:r>
              <a:rPr dirty="0"/>
              <a:t> normal)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━━━━━━━━━━━━━━━━━━━━━━━━━━━━━━━━━━━━━━━━━━━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Security Groups - O Firewall 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1371600"/>
            <a:ext cx="8360979" cy="7632859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Security Group = Firewall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recurso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SG do Load Balancer - </a:t>
            </a:r>
            <a:r>
              <a:rPr dirty="0" err="1"/>
              <a:t>Aceita</a:t>
            </a:r>
            <a:r>
              <a:rPr dirty="0"/>
              <a:t> internet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aws_security_group</a:t>
            </a:r>
            <a:r>
              <a:rPr dirty="0"/>
              <a:t>" "</a:t>
            </a:r>
            <a:r>
              <a:rPr dirty="0" err="1"/>
              <a:t>alb</a:t>
            </a:r>
            <a:r>
              <a:rPr dirty="0"/>
              <a:t>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name        = "</a:t>
            </a:r>
            <a:r>
              <a:rPr dirty="0" err="1"/>
              <a:t>loja</a:t>
            </a:r>
            <a:r>
              <a:rPr dirty="0"/>
              <a:t>-online-</a:t>
            </a:r>
            <a:r>
              <a:rPr dirty="0" err="1"/>
              <a:t>alb</a:t>
            </a:r>
            <a:r>
              <a:rPr dirty="0"/>
              <a:t>-sg"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description = "ALB security group"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vpc_id</a:t>
            </a:r>
            <a:r>
              <a:rPr dirty="0"/>
              <a:t>      = </a:t>
            </a:r>
            <a:r>
              <a:rPr dirty="0" err="1"/>
              <a:t>aws_vpc.main.id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ingress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from_port</a:t>
            </a:r>
            <a:r>
              <a:rPr dirty="0"/>
              <a:t>   = 80     # HTTP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to_port</a:t>
            </a:r>
            <a:r>
              <a:rPr dirty="0"/>
              <a:t>     = 80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protocol    = "</a:t>
            </a:r>
            <a:r>
              <a:rPr dirty="0" err="1"/>
              <a:t>tcp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cidr_blocks</a:t>
            </a:r>
            <a:r>
              <a:rPr dirty="0"/>
              <a:t> = ["0.0.0.0/0"]  # </a:t>
            </a:r>
            <a:r>
              <a:rPr dirty="0" err="1"/>
              <a:t>Qualquer</a:t>
            </a:r>
            <a:r>
              <a:rPr dirty="0"/>
              <a:t> IP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ingress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from_port</a:t>
            </a:r>
            <a:r>
              <a:rPr dirty="0"/>
              <a:t>   = 443    # HTTPS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to_port</a:t>
            </a:r>
            <a:r>
              <a:rPr dirty="0"/>
              <a:t>     = 443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protocol    = "</a:t>
            </a:r>
            <a:r>
              <a:rPr dirty="0" err="1"/>
              <a:t>tcp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cidr_blocks</a:t>
            </a:r>
            <a:r>
              <a:rPr dirty="0"/>
              <a:t> = ["0.0.0.0/0"]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# SG dos </a:t>
            </a:r>
            <a:r>
              <a:rPr dirty="0" err="1"/>
              <a:t>Servidores</a:t>
            </a:r>
            <a:r>
              <a:rPr dirty="0"/>
              <a:t> - APENAS do ALB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resource "</a:t>
            </a:r>
            <a:r>
              <a:rPr dirty="0" err="1"/>
              <a:t>aws_security_group</a:t>
            </a:r>
            <a:r>
              <a:rPr dirty="0"/>
              <a:t>" "ec2"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name = "loja-online-ec2-sg"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ingress {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from_port</a:t>
            </a:r>
            <a:r>
              <a:rPr dirty="0"/>
              <a:t>       = 3000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to_port</a:t>
            </a:r>
            <a:r>
              <a:rPr dirty="0"/>
              <a:t>         = 3000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protocol        = "</a:t>
            </a:r>
            <a:r>
              <a:rPr dirty="0" err="1"/>
              <a:t>tcp</a:t>
            </a:r>
            <a:r>
              <a:rPr dirty="0"/>
              <a:t>"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security_groups</a:t>
            </a:r>
            <a:r>
              <a:rPr dirty="0"/>
              <a:t> = [</a:t>
            </a:r>
            <a:r>
              <a:rPr dirty="0" err="1"/>
              <a:t>aws_security_group.alb.id</a:t>
            </a:r>
            <a:r>
              <a:rPr dirty="0"/>
              <a:t>]  # ⚠️ Só ALB!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Demo - Vamos </a:t>
            </a:r>
            <a:r>
              <a:rPr dirty="0" err="1"/>
              <a:t>Executar</a:t>
            </a:r>
            <a:r>
              <a:rPr dirty="0"/>
              <a:t>!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599" y="1371600"/>
            <a:ext cx="6532179" cy="5478423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1️⃣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LocalStack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docker compose up -d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2️⃣ Inicializar Terraform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cd terraform/</a:t>
            </a:r>
            <a:r>
              <a:rPr dirty="0" err="1"/>
              <a:t>localstack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terraform </a:t>
            </a:r>
            <a:r>
              <a:rPr dirty="0" err="1"/>
              <a:t>init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3️⃣ Ver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criado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terraform plan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4️⃣ </a:t>
            </a:r>
            <a:r>
              <a:rPr dirty="0" err="1"/>
              <a:t>Aplicar</a:t>
            </a:r>
            <a:r>
              <a:rPr dirty="0"/>
              <a:t> a </a:t>
            </a:r>
            <a:r>
              <a:rPr dirty="0" err="1"/>
              <a:t>infraestrutura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terraform apply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→ </a:t>
            </a:r>
            <a:r>
              <a:rPr dirty="0" err="1"/>
              <a:t>Digite</a:t>
            </a:r>
            <a:r>
              <a:rPr dirty="0"/>
              <a:t>: yes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5️⃣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criados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terraform output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terraform state list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6️⃣ </a:t>
            </a:r>
            <a:r>
              <a:rPr dirty="0" err="1"/>
              <a:t>Destruir</a:t>
            </a:r>
            <a:r>
              <a:rPr dirty="0"/>
              <a:t> (</a:t>
            </a:r>
            <a:r>
              <a:rPr dirty="0" err="1"/>
              <a:t>ao</a:t>
            </a:r>
            <a:r>
              <a:rPr dirty="0"/>
              <a:t> final)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   $ terraform destroy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⏱️ Tempo total: ~3 </a:t>
            </a:r>
            <a:r>
              <a:rPr dirty="0" err="1"/>
              <a:t>minutos</a:t>
            </a:r>
            <a:endParaRPr dirty="0"/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rPr dirty="0"/>
              <a:t>✅ 20+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criados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!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/>
              <a:t>Antes vs </a:t>
            </a:r>
            <a:r>
              <a:rPr dirty="0" err="1"/>
              <a:t>Depois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❌ ANTES</a:t>
            </a:r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endParaRPr dirty="0"/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10 </a:t>
            </a:r>
            <a:r>
              <a:rPr dirty="0" err="1"/>
              <a:t>servidores</a:t>
            </a:r>
            <a:r>
              <a:rPr dirty="0"/>
              <a:t> 24/7</a:t>
            </a:r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R$ 50.000/</a:t>
            </a:r>
            <a:r>
              <a:rPr dirty="0" err="1"/>
              <a:t>mês</a:t>
            </a:r>
            <a:endParaRPr dirty="0"/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</a:t>
            </a:r>
            <a:r>
              <a:rPr dirty="0" err="1"/>
              <a:t>Infraestrutura</a:t>
            </a:r>
            <a:r>
              <a:rPr dirty="0"/>
              <a:t> manual</a:t>
            </a:r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Sem </a:t>
            </a:r>
            <a:r>
              <a:rPr dirty="0" err="1"/>
              <a:t>versionamento</a:t>
            </a:r>
            <a:endParaRPr dirty="0"/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Quedas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sextas</a:t>
            </a:r>
            <a:endParaRPr dirty="0"/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</a:t>
            </a:r>
            <a:r>
              <a:rPr dirty="0" err="1"/>
              <a:t>Desperdício</a:t>
            </a:r>
            <a:r>
              <a:rPr dirty="0"/>
              <a:t> </a:t>
            </a:r>
            <a:r>
              <a:rPr dirty="0" err="1"/>
              <a:t>fim</a:t>
            </a:r>
            <a:r>
              <a:rPr dirty="0"/>
              <a:t> de </a:t>
            </a:r>
            <a:r>
              <a:rPr dirty="0" err="1"/>
              <a:t>semana</a:t>
            </a:r>
            <a:endParaRPr dirty="0"/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Deployment manual</a:t>
            </a:r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r>
              <a:rPr dirty="0"/>
              <a:t>• Rollback </a:t>
            </a:r>
            <a:r>
              <a:rPr dirty="0" err="1"/>
              <a:t>difícil</a:t>
            </a:r>
            <a:endParaRPr dirty="0"/>
          </a:p>
          <a:p>
            <a:pPr>
              <a:defRPr sz="1800">
                <a:solidFill>
                  <a:srgbClr val="D32F2F"/>
                </a:solidFill>
                <a:latin typeface="Consola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✅ DEPOIS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endParaRPr/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2-10 servidores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R$ 18.000/mês (64% ↓)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Código Terraform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Git versionado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Escala automaticamente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Scheduled scaling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terraform apply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r>
              <a:t>• Fácil rollback</a:t>
            </a:r>
          </a:p>
          <a:p>
            <a:pPr>
              <a:defRPr sz="1800">
                <a:solidFill>
                  <a:srgbClr val="2E7D32"/>
                </a:solidFill>
                <a:latin typeface="Consolas"/>
              </a:defRPr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Alcançados</a:t>
            </a:r>
            <a:r>
              <a:rPr dirty="0"/>
              <a:t> 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💰 ECONOMIA DE CUSTOS</a:t>
            </a:r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r>
              <a:rPr dirty="0"/>
              <a:t>   Antes: R$ 50.000/</a:t>
            </a:r>
            <a:r>
              <a:rPr dirty="0" err="1"/>
              <a:t>mês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</a:t>
            </a:r>
            <a:r>
              <a:rPr dirty="0" err="1"/>
              <a:t>Depois</a:t>
            </a:r>
            <a:r>
              <a:rPr dirty="0"/>
              <a:t>: R$ 18.000/</a:t>
            </a:r>
            <a:r>
              <a:rPr dirty="0" err="1"/>
              <a:t>mês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Economia: R$ 32.000/</a:t>
            </a:r>
            <a:r>
              <a:rPr dirty="0" err="1"/>
              <a:t>mês</a:t>
            </a:r>
            <a:r>
              <a:rPr dirty="0"/>
              <a:t> (64%)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⚡ PERFORMANCE</a:t>
            </a:r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r>
              <a:rPr dirty="0"/>
              <a:t>   ✅ </a:t>
            </a:r>
            <a:r>
              <a:rPr dirty="0" err="1"/>
              <a:t>Sextas-feiras</a:t>
            </a:r>
            <a:r>
              <a:rPr dirty="0"/>
              <a:t>: Sistema </a:t>
            </a:r>
            <a:r>
              <a:rPr dirty="0" err="1"/>
              <a:t>estável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✅ Auto Scaling </a:t>
            </a:r>
            <a:r>
              <a:rPr dirty="0" err="1"/>
              <a:t>controlado</a:t>
            </a:r>
            <a:r>
              <a:rPr dirty="0"/>
              <a:t> (max: 10)</a:t>
            </a:r>
          </a:p>
          <a:p>
            <a:pPr>
              <a:defRPr sz="1800">
                <a:latin typeface="Consolas"/>
              </a:defRPr>
            </a:pPr>
            <a:r>
              <a:rPr dirty="0"/>
              <a:t>   ✅ Health checks </a:t>
            </a:r>
            <a:r>
              <a:rPr dirty="0" err="1"/>
              <a:t>automáticos</a:t>
            </a: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🔒 SEGURANÇA</a:t>
            </a:r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r>
              <a:rPr dirty="0"/>
              <a:t>   ✅ 3 </a:t>
            </a:r>
            <a:r>
              <a:rPr dirty="0" err="1"/>
              <a:t>camadas</a:t>
            </a:r>
            <a:r>
              <a:rPr dirty="0"/>
              <a:t> de rede </a:t>
            </a:r>
            <a:r>
              <a:rPr dirty="0" err="1"/>
              <a:t>isoladas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✅ Security Groups </a:t>
            </a:r>
            <a:r>
              <a:rPr dirty="0" err="1"/>
              <a:t>restritivos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✅ IAM com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privilégio</a:t>
            </a: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🚀 OPERACIONAL</a:t>
            </a:r>
          </a:p>
          <a:p>
            <a:pPr>
              <a:defRPr sz="1800">
                <a:latin typeface="Consolas"/>
              </a:defRPr>
            </a:pPr>
            <a:r>
              <a:rPr dirty="0"/>
              <a:t>━━━━━━━━━━━━━━━━━━━━━━━━━━━━━━━━━━━━━━━</a:t>
            </a:r>
          </a:p>
          <a:p>
            <a:pPr>
              <a:defRPr sz="1800">
                <a:latin typeface="Consolas"/>
              </a:defRPr>
            </a:pPr>
            <a:r>
              <a:rPr dirty="0"/>
              <a:t>   ✅ Deploy </a:t>
            </a:r>
            <a:r>
              <a:rPr dirty="0" err="1"/>
              <a:t>em</a:t>
            </a:r>
            <a:r>
              <a:rPr dirty="0"/>
              <a:t> 3 </a:t>
            </a:r>
            <a:r>
              <a:rPr dirty="0" err="1"/>
              <a:t>minutos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✅ Código </a:t>
            </a:r>
            <a:r>
              <a:rPr dirty="0" err="1"/>
              <a:t>versionado</a:t>
            </a:r>
            <a:r>
              <a:rPr dirty="0"/>
              <a:t> no Git</a:t>
            </a:r>
          </a:p>
          <a:p>
            <a:pPr>
              <a:defRPr sz="1800">
                <a:latin typeface="Consolas"/>
              </a:defRPr>
            </a:pPr>
            <a:r>
              <a:rPr dirty="0"/>
              <a:t>   ✅ </a:t>
            </a:r>
            <a:r>
              <a:rPr dirty="0" err="1"/>
              <a:t>Reproduzível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ambiente</a:t>
            </a: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F3E"/>
                </a:solidFill>
              </a:defRPr>
            </a:pPr>
            <a:r>
              <a:rPr dirty="0" err="1"/>
              <a:t>Próximos</a:t>
            </a:r>
            <a:r>
              <a:rPr dirty="0"/>
              <a:t> Passos 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63051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🎯 PARA PRATICAR: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1. Clone o </a:t>
            </a:r>
            <a:r>
              <a:rPr dirty="0" err="1"/>
              <a:t>repositório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git clone </a:t>
            </a:r>
            <a:r>
              <a:rPr lang="en-US" dirty="0">
                <a:hlinkClick r:id="rId2"/>
              </a:rPr>
              <a:t>https://github.com/tharles-freire-heyupcharly/estudo-caso-loja-online-iac</a:t>
            </a:r>
            <a:endParaRPr lang="en-US"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2. Execute o </a:t>
            </a:r>
            <a:r>
              <a:rPr dirty="0" err="1"/>
              <a:t>projeto</a:t>
            </a:r>
            <a:r>
              <a:rPr dirty="0"/>
              <a:t> com </a:t>
            </a:r>
            <a:r>
              <a:rPr dirty="0" err="1"/>
              <a:t>LocalStack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Sem custos! </a:t>
            </a:r>
            <a:r>
              <a:rPr dirty="0" err="1"/>
              <a:t>Tudo</a:t>
            </a:r>
            <a:r>
              <a:rPr dirty="0"/>
              <a:t> local.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3. </a:t>
            </a:r>
            <a:r>
              <a:rPr dirty="0" err="1"/>
              <a:t>Modifique</a:t>
            </a:r>
            <a:r>
              <a:rPr dirty="0"/>
              <a:t> as </a:t>
            </a:r>
            <a:r>
              <a:rPr dirty="0" err="1"/>
              <a:t>variáveis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</a:t>
            </a:r>
            <a:r>
              <a:rPr dirty="0" err="1"/>
              <a:t>Experimente</a:t>
            </a:r>
            <a:r>
              <a:rPr dirty="0"/>
              <a:t>: </a:t>
            </a:r>
            <a:r>
              <a:rPr dirty="0" err="1"/>
              <a:t>min_size</a:t>
            </a:r>
            <a:r>
              <a:rPr dirty="0"/>
              <a:t>, </a:t>
            </a:r>
            <a:r>
              <a:rPr dirty="0" err="1"/>
              <a:t>max_size</a:t>
            </a:r>
            <a:r>
              <a:rPr dirty="0"/>
              <a:t>, etc.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4. </a:t>
            </a:r>
            <a:r>
              <a:rPr dirty="0" err="1"/>
              <a:t>Adicione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recursos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   RDS, </a:t>
            </a:r>
            <a:r>
              <a:rPr dirty="0" err="1"/>
              <a:t>ElastiCache</a:t>
            </a:r>
            <a:r>
              <a:rPr dirty="0"/>
              <a:t>, CloudFront...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📖 PARA APROFUNDAR: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• Terraform Registry: </a:t>
            </a:r>
            <a:r>
              <a:rPr dirty="0" err="1"/>
              <a:t>registry.terraform.io</a:t>
            </a: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• AWS Well-Architected: </a:t>
            </a:r>
            <a:r>
              <a:rPr dirty="0" err="1"/>
              <a:t>aws.amazon.com</a:t>
            </a:r>
            <a:r>
              <a:rPr dirty="0"/>
              <a:t>/architecture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Terraform Best Practices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AWS Cost Optimization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/>
              <a:t>💡 EXERCÍCIO:</a:t>
            </a:r>
          </a:p>
          <a:p>
            <a:pPr>
              <a:defRPr sz="1800">
                <a:latin typeface="Consolas"/>
              </a:defRPr>
            </a:pPr>
            <a:endParaRPr dirty="0"/>
          </a:p>
          <a:p>
            <a:pPr>
              <a:defRPr sz="1800">
                <a:latin typeface="Consolas"/>
              </a:defRPr>
            </a:pPr>
            <a:r>
              <a:rPr dirty="0" err="1"/>
              <a:t>Adapte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para: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</a:t>
            </a:r>
            <a:r>
              <a:rPr dirty="0" err="1"/>
              <a:t>Ambiente</a:t>
            </a:r>
            <a:r>
              <a:rPr dirty="0"/>
              <a:t> de staging (</a:t>
            </a:r>
            <a:r>
              <a:rPr dirty="0" err="1"/>
              <a:t>menor</a:t>
            </a:r>
            <a:r>
              <a:rPr dirty="0"/>
              <a:t>)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Multi-</a:t>
            </a:r>
            <a:r>
              <a:rPr dirty="0" err="1"/>
              <a:t>região</a:t>
            </a:r>
            <a:r>
              <a:rPr dirty="0"/>
              <a:t> (disaster recovery)</a:t>
            </a:r>
          </a:p>
          <a:p>
            <a:pPr>
              <a:defRPr sz="1800">
                <a:latin typeface="Consolas"/>
              </a:defRPr>
            </a:pPr>
            <a:r>
              <a:rPr dirty="0"/>
              <a:t>• </a:t>
            </a: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monitoramento</a:t>
            </a:r>
            <a:r>
              <a:rPr dirty="0"/>
              <a:t> </a:t>
            </a:r>
            <a:r>
              <a:rPr dirty="0" err="1"/>
              <a:t>avançado</a:t>
            </a:r>
            <a:endParaRPr dirty="0"/>
          </a:p>
          <a:p>
            <a:pPr>
              <a:defRPr sz="1800"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1772</Words>
  <Application>Microsoft Macintosh PowerPoint</Application>
  <PresentationFormat>On-screen Show (4:3)</PresentationFormat>
  <Paragraphs>346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2025-11-11T18:40:04Z</dcterms:modified>
  <cp:category/>
</cp:coreProperties>
</file>